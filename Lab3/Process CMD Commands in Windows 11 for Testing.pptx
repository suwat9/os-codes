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2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Relationship Id="rId10" Type="http://schemas.openxmlformats.org/officeDocument/2006/relationships/image" Target="../media/image33.png"/><Relationship Id="rId11" Type="http://schemas.openxmlformats.org/officeDocument/2006/relationships/image" Target="../media/image34.png"/><Relationship Id="rId12" Type="http://schemas.openxmlformats.org/officeDocument/2006/relationships/image" Target="../media/image35.png"/><Relationship Id="rId13" Type="http://schemas.openxmlformats.org/officeDocument/2006/relationships/image" Target="../media/image36.png"/><Relationship Id="rId14" Type="http://schemas.openxmlformats.org/officeDocument/2006/relationships/image" Target="../media/image37.png"/><Relationship Id="rId15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47AB">
                  <a:alpha val="85000"/>
                </a:srgbClr>
              </a:gs>
              <a:gs pos="100000">
                <a:srgbClr val="00296B">
                  <a:alpha val="90000"/>
                </a:srgbClr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19169" y="2000250"/>
            <a:ext cx="9753356" cy="14668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4940"/>
              </a:lnSpc>
              <a:spcBef>
                <a:spcPts val="0"/>
              </a:spcBef>
              <a:spcAft>
                <a:spcPts val="1560"/>
              </a:spcAft>
            </a:pPr>
            <a:r>
              <a:rPr sz="3827" b="1">
                <a:solidFill>
                  <a:srgbClr val="FFFFFF"/>
                </a:solidFill>
              </a:rPr>
              <a:t>Process CMD Commands in Windows 11 for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9169" y="3686175"/>
            <a:ext cx="9753356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2600"/>
              </a:spcAft>
            </a:pPr>
            <a:r>
              <a:rPr sz="1435" b="0">
                <a:solidFill>
                  <a:srgbClr val="FFFFFF"/>
                </a:solidFill>
              </a:rPr>
              <a:t>Essential Commands for Process Management and Testing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5867253" y="4431631"/>
            <a:ext cx="457188" cy="3188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Introduction to Process Management in Windows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238249"/>
            <a:ext cx="5286242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78D4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78D4"/>
                </a:solidFill>
              </a:rPr>
              <a:t> What are Processes?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307782"/>
            <a:ext cx="228594" cy="165734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1755979"/>
            <a:ext cx="171445" cy="884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3426" y="1676400"/>
            <a:ext cx="4352816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Running instances of </a:t>
            </a:r>
            <a:r>
              <a:rPr sz="1196" b="1">
                <a:solidFill>
                  <a:srgbClr val="0078D4"/>
                </a:solidFill>
              </a:rPr>
              <a:t>applications</a:t>
            </a:r>
            <a:r>
              <a:rPr sz="1196" b="0">
                <a:solidFill>
                  <a:srgbClr val="333333"/>
                </a:solidFill>
              </a:rPr>
              <a:t> and </a:t>
            </a:r>
            <a:r>
              <a:rPr sz="1196" b="1">
                <a:solidFill>
                  <a:srgbClr val="0078D4"/>
                </a:solidFill>
              </a:rPr>
              <a:t>system services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2089354"/>
            <a:ext cx="171445" cy="8849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3426" y="2009774"/>
            <a:ext cx="5019549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Each process has unique </a:t>
            </a:r>
            <a:r>
              <a:rPr sz="1196" b="1">
                <a:solidFill>
                  <a:srgbClr val="0078D4"/>
                </a:solidFill>
              </a:rPr>
              <a:t>Process ID (PID)</a:t>
            </a:r>
            <a:r>
              <a:rPr sz="1196" b="0">
                <a:solidFill>
                  <a:srgbClr val="333333"/>
                </a:solidFill>
              </a:rPr>
              <a:t> and resource allocation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33" y="2771775"/>
            <a:ext cx="5286242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78D4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78D4"/>
                </a:solidFill>
              </a:rPr>
              <a:t> Why Important for Testing? 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6733" y="2826067"/>
            <a:ext cx="228594" cy="177164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3289504"/>
            <a:ext cx="171445" cy="8849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33426" y="3209925"/>
            <a:ext cx="3962300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Monitor </a:t>
            </a:r>
            <a:r>
              <a:rPr sz="1196" b="1">
                <a:solidFill>
                  <a:srgbClr val="0078D4"/>
                </a:solidFill>
              </a:rPr>
              <a:t>resource usage</a:t>
            </a:r>
            <a:r>
              <a:rPr sz="1196" b="0">
                <a:solidFill>
                  <a:srgbClr val="333333"/>
                </a:solidFill>
              </a:rPr>
              <a:t> during application testing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3622879"/>
            <a:ext cx="171445" cy="8849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33426" y="3543300"/>
            <a:ext cx="5019549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Identify and terminate </a:t>
            </a:r>
            <a:r>
              <a:rPr sz="1196" b="1">
                <a:solidFill>
                  <a:srgbClr val="0078D4"/>
                </a:solidFill>
              </a:rPr>
              <a:t>unresponsive</a:t>
            </a:r>
            <a:r>
              <a:rPr sz="1196" b="0">
                <a:solidFill>
                  <a:srgbClr val="333333"/>
                </a:solidFill>
              </a:rPr>
              <a:t> or </a:t>
            </a:r>
            <a:r>
              <a:rPr sz="1196" b="1">
                <a:solidFill>
                  <a:srgbClr val="0078D4"/>
                </a:solidFill>
              </a:rPr>
              <a:t>resource-intensive</a:t>
            </a:r>
            <a:r>
              <a:rPr sz="1196" b="0">
                <a:solidFill>
                  <a:srgbClr val="333333"/>
                </a:solidFill>
              </a:rPr>
              <a:t> processes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733" y="4305300"/>
            <a:ext cx="5286242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78D4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78D4"/>
                </a:solidFill>
              </a:rPr>
              <a:t> CMD Commands Benefits 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66733" y="4374832"/>
            <a:ext cx="228594" cy="165734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4823029"/>
            <a:ext cx="171445" cy="8849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33426" y="4743450"/>
            <a:ext cx="3133646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78D4"/>
                </a:solidFill>
              </a:rPr>
              <a:t>Lightweight</a:t>
            </a:r>
            <a:r>
              <a:rPr sz="1196" b="0">
                <a:solidFill>
                  <a:srgbClr val="333333"/>
                </a:solidFill>
              </a:rPr>
              <a:t> - Works when GUI tools fail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5156404"/>
            <a:ext cx="171445" cy="8849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33426" y="5076825"/>
            <a:ext cx="383847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78D4"/>
                </a:solidFill>
              </a:rPr>
              <a:t>Scriptable</a:t>
            </a:r>
            <a:r>
              <a:rPr sz="1196" b="0">
                <a:solidFill>
                  <a:srgbClr val="333333"/>
                </a:solidFill>
              </a:rPr>
              <a:t> - Automate process testing workflows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05412" y="2190749"/>
            <a:ext cx="4762380" cy="3343275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Key Process CMD Commands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238249"/>
            <a:ext cx="5286242" cy="2476499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1511498"/>
            <a:ext cx="380990" cy="2917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6813" y="1466849"/>
            <a:ext cx="4257568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0078D4"/>
                </a:solidFill>
              </a:rPr>
              <a:t>tasklist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6813" y="1857375"/>
            <a:ext cx="4257568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Displays </a:t>
            </a:r>
            <a:r>
              <a:rPr sz="1196" b="1">
                <a:solidFill>
                  <a:srgbClr val="0078D4"/>
                </a:solidFill>
              </a:rPr>
              <a:t>running processes</a:t>
            </a:r>
            <a:r>
              <a:rPr sz="1196" b="0">
                <a:solidFill>
                  <a:srgbClr val="333333"/>
                </a:solidFill>
              </a:rPr>
              <a:t> with PID, memory usage, and session information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8719" y="1238249"/>
            <a:ext cx="5286242" cy="2476499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467313" y="1541264"/>
            <a:ext cx="380990" cy="23217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038799" y="1466849"/>
            <a:ext cx="4257568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0078D4"/>
                </a:solidFill>
              </a:rPr>
              <a:t>taskkill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38799" y="1857375"/>
            <a:ext cx="4257568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Terminates processes by </a:t>
            </a:r>
            <a:r>
              <a:rPr sz="1196" b="1">
                <a:solidFill>
                  <a:srgbClr val="0078D4"/>
                </a:solidFill>
              </a:rPr>
              <a:t>name</a:t>
            </a:r>
            <a:r>
              <a:rPr sz="1196" b="0">
                <a:solidFill>
                  <a:srgbClr val="333333"/>
                </a:solidFill>
              </a:rPr>
              <a:t> or </a:t>
            </a:r>
            <a:r>
              <a:rPr sz="1196" b="1">
                <a:solidFill>
                  <a:srgbClr val="0078D4"/>
                </a:solidFill>
              </a:rPr>
              <a:t>PID</a:t>
            </a:r>
            <a:r>
              <a:rPr sz="1196" b="0">
                <a:solidFill>
                  <a:srgbClr val="333333"/>
                </a:solidFill>
              </a:rPr>
              <a:t>, with force option for unresponsive programs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6733" y="4000500"/>
            <a:ext cx="5286242" cy="2476499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95327" y="4273748"/>
            <a:ext cx="380990" cy="29170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466813" y="4229100"/>
            <a:ext cx="4257568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0078D4"/>
                </a:solidFill>
              </a:rPr>
              <a:t>wmic 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6813" y="4619625"/>
            <a:ext cx="4257568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Windows Management Instrumentation tool for </a:t>
            </a:r>
            <a:r>
              <a:rPr sz="1196" b="1">
                <a:solidFill>
                  <a:srgbClr val="0078D4"/>
                </a:solidFill>
              </a:rPr>
              <a:t>detailed process information</a:t>
            </a:r>
            <a:r>
              <a:rPr sz="1196" b="0">
                <a:solidFill>
                  <a:srgbClr val="333333"/>
                </a:solidFill>
              </a:rPr>
              <a:t> and management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8719" y="4000500"/>
            <a:ext cx="5286242" cy="2476499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467313" y="4287142"/>
            <a:ext cx="380990" cy="26491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038799" y="4229100"/>
            <a:ext cx="4257568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0078D4"/>
                </a:solidFill>
              </a:rPr>
              <a:t>netstat -ano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38799" y="4619625"/>
            <a:ext cx="4257568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Shows </a:t>
            </a:r>
            <a:r>
              <a:rPr sz="1196" b="1">
                <a:solidFill>
                  <a:srgbClr val="0078D4"/>
                </a:solidFill>
              </a:rPr>
              <a:t>network connections</a:t>
            </a:r>
            <a:r>
              <a:rPr sz="1196" b="0">
                <a:solidFill>
                  <a:srgbClr val="333333"/>
                </a:solidFill>
              </a:rPr>
              <a:t> with associated process IDs for network troubleshooting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Tasklist Command - Syntax and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238249"/>
            <a:ext cx="5286242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78D4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78D4"/>
                </a:solidFill>
              </a:rPr>
              <a:t> Syntax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327785"/>
            <a:ext cx="228594" cy="12572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6733" y="1676400"/>
            <a:ext cx="5286242" cy="800100"/>
          </a:xfrm>
          <a:prstGeom prst="roundRect">
            <a:avLst>
              <a:gd name="adj" fmla="val 9523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332723" y="2010410"/>
            <a:ext cx="800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7703" y="1819275"/>
            <a:ext cx="4962400" cy="5143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</a:rPr>
              <a:t>tasklist [/s </a:t>
            </a:r>
            <a:r>
              <a:rPr sz="1076" b="0">
                <a:solidFill>
                  <a:srgbClr val="333333"/>
                </a:solidFill>
              </a:rPr>
              <a:t> [/u </a:t>
            </a:r>
            <a:r>
              <a:rPr sz="1076" b="0">
                <a:solidFill>
                  <a:srgbClr val="333333"/>
                </a:solidFill>
              </a:rPr>
              <a:t>\</a:t>
            </a:r>
            <a:r>
              <a:rPr sz="1076" b="0">
                <a:solidFill>
                  <a:srgbClr val="333333"/>
                </a:solidFill>
              </a:rPr>
              <a:t> [/p </a:t>
            </a:r>
            <a:r>
              <a:rPr sz="1076" b="0">
                <a:solidFill>
                  <a:srgbClr val="333333"/>
                </a:solidFill>
              </a:rPr>
              <a:t>]]] [/m </a:t>
            </a:r>
            <a:r>
              <a:rPr sz="1076" b="0">
                <a:solidFill>
                  <a:srgbClr val="333333"/>
                </a:solidFill>
              </a:rPr>
              <a:t> | /svc | /v] [/fo </a:t>
            </a:r>
            <a:r>
              <a:rPr sz="1076" b="0">
                <a:solidFill>
                  <a:srgbClr val="333333"/>
                </a:solidFill>
              </a:rPr>
              <a:t> [/nh]] [/fi </a:t>
            </a:r>
            <a:r>
              <a:rPr sz="1076" b="0">
                <a:solidFill>
                  <a:srgbClr val="333333"/>
                </a:solidFill>
              </a:rPr>
              <a:t>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33" y="2905124"/>
            <a:ext cx="5286242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78D4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78D4"/>
                </a:solidFill>
              </a:rPr>
              <a:t> Key Parameters 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2950845"/>
            <a:ext cx="228594" cy="19430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6733" y="3343275"/>
            <a:ext cx="114297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0078D4"/>
                </a:solidFill>
              </a:rPr>
              <a:t>/m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04952" y="3343275"/>
            <a:ext cx="2676458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</a:rPr>
              <a:t>List processes using specified module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33" y="3638550"/>
            <a:ext cx="114297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0078D4"/>
                </a:solidFill>
              </a:rPr>
              <a:t>/svc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04952" y="3638550"/>
            <a:ext cx="2057348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</a:rPr>
              <a:t>List services for each 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33" y="3933824"/>
            <a:ext cx="114297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0078D4"/>
                </a:solidFill>
              </a:rPr>
              <a:t>/v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4952" y="3933824"/>
            <a:ext cx="200972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</a:rPr>
              <a:t>Display verbose information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33" y="4229100"/>
            <a:ext cx="114297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0078D4"/>
                </a:solidFill>
              </a:rPr>
              <a:t>/fo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4952" y="4229100"/>
            <a:ext cx="2276418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</a:rPr>
              <a:t>Output format: TABLE, LIST, 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33" y="4524374"/>
            <a:ext cx="114297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0078D4"/>
                </a:solidFill>
              </a:rPr>
              <a:t>/fi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04952" y="4524374"/>
            <a:ext cx="1866853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</a:rPr>
              <a:t>Filter processes by criteria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8719" y="1238249"/>
            <a:ext cx="5286242" cy="2076449"/>
          </a:xfrm>
          <a:prstGeom prst="roundRect">
            <a:avLst>
              <a:gd name="adj" fmla="val 733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1590" y="1381124"/>
            <a:ext cx="500049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0078D4"/>
                </a:solidFill>
              </a:rPr>
              <a:t>Basic Usage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81590" y="1714500"/>
            <a:ext cx="5000499" cy="390525"/>
          </a:xfrm>
          <a:prstGeom prst="roundRect">
            <a:avLst>
              <a:gd name="adj" fmla="val 19512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1590" y="1714500"/>
            <a:ext cx="5000499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0">
                <a:solidFill>
                  <a:srgbClr val="333333"/>
                </a:solidFill>
              </a:rPr>
              <a:t>tasklist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81590" y="2200275"/>
            <a:ext cx="5000499" cy="390525"/>
          </a:xfrm>
          <a:prstGeom prst="roundRect">
            <a:avLst>
              <a:gd name="adj" fmla="val 19512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1590" y="2200275"/>
            <a:ext cx="5000499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0">
                <a:solidFill>
                  <a:srgbClr val="333333"/>
                </a:solidFill>
              </a:rPr>
              <a:t>tasklist /v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81590" y="2686050"/>
            <a:ext cx="5000499" cy="390525"/>
          </a:xfrm>
          <a:prstGeom prst="roundRect">
            <a:avLst>
              <a:gd name="adj" fmla="val 19512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81590" y="2686050"/>
            <a:ext cx="5000499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0">
                <a:solidFill>
                  <a:srgbClr val="333333"/>
                </a:solidFill>
              </a:rPr>
              <a:t>tasklist /svc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8719" y="3505199"/>
            <a:ext cx="5286242" cy="2076449"/>
          </a:xfrm>
          <a:prstGeom prst="roundRect">
            <a:avLst>
              <a:gd name="adj" fmla="val 733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81590" y="3648074"/>
            <a:ext cx="500049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0078D4"/>
                </a:solidFill>
              </a:rPr>
              <a:t>Filtering Examples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81590" y="3981449"/>
            <a:ext cx="5000499" cy="390525"/>
          </a:xfrm>
          <a:prstGeom prst="roundRect">
            <a:avLst>
              <a:gd name="adj" fmla="val 19512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81590" y="3981449"/>
            <a:ext cx="5000499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0">
                <a:solidFill>
                  <a:srgbClr val="333333"/>
                </a:solidFill>
              </a:rPr>
              <a:t>tasklist /fi "imagename eq notepad.exe"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81590" y="4467224"/>
            <a:ext cx="5000499" cy="390525"/>
          </a:xfrm>
          <a:prstGeom prst="roundRect">
            <a:avLst>
              <a:gd name="adj" fmla="val 19512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1590" y="4467224"/>
            <a:ext cx="5000499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0">
                <a:solidFill>
                  <a:srgbClr val="333333"/>
                </a:solidFill>
              </a:rPr>
              <a:t>tasklist /fi "memusage gt 100000"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81590" y="4952999"/>
            <a:ext cx="5000499" cy="390525"/>
          </a:xfrm>
          <a:prstGeom prst="roundRect">
            <a:avLst>
              <a:gd name="adj" fmla="val 19512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81590" y="4952999"/>
            <a:ext cx="5000499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0">
                <a:solidFill>
                  <a:srgbClr val="333333"/>
                </a:solidFill>
              </a:rPr>
              <a:t>tasklist /fi "status eq running"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38719" y="5772150"/>
            <a:ext cx="5286242" cy="2867025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Taskkill Command - Syntax and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238249"/>
            <a:ext cx="5286242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78D4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78D4"/>
                </a:solidFill>
              </a:rPr>
              <a:t> Syntax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327785"/>
            <a:ext cx="228594" cy="12572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6733" y="1676400"/>
            <a:ext cx="5286242" cy="800100"/>
          </a:xfrm>
          <a:prstGeom prst="roundRect">
            <a:avLst>
              <a:gd name="adj" fmla="val 9523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332723" y="2010410"/>
            <a:ext cx="800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7703" y="1819275"/>
            <a:ext cx="4962400" cy="5143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</a:rPr>
              <a:t>taskkill [/s </a:t>
            </a:r>
            <a:r>
              <a:rPr sz="1076" b="0">
                <a:solidFill>
                  <a:srgbClr val="333333"/>
                </a:solidFill>
              </a:rPr>
              <a:t> [/u </a:t>
            </a:r>
            <a:r>
              <a:rPr sz="1076" b="0">
                <a:solidFill>
                  <a:srgbClr val="333333"/>
                </a:solidFill>
              </a:rPr>
              <a:t>\</a:t>
            </a:r>
            <a:r>
              <a:rPr sz="1076" b="0">
                <a:solidFill>
                  <a:srgbClr val="333333"/>
                </a:solidFill>
              </a:rPr>
              <a:t> [/p </a:t>
            </a:r>
            <a:r>
              <a:rPr sz="1076" b="0">
                <a:solidFill>
                  <a:srgbClr val="333333"/>
                </a:solidFill>
              </a:rPr>
              <a:t>]]] {[/fi </a:t>
            </a:r>
            <a:r>
              <a:rPr sz="1076" b="0">
                <a:solidFill>
                  <a:srgbClr val="333333"/>
                </a:solidFill>
              </a:rPr>
              <a:t>] [/pid </a:t>
            </a:r>
            <a:r>
              <a:rPr sz="1076" b="0">
                <a:solidFill>
                  <a:srgbClr val="333333"/>
                </a:solidFill>
              </a:rPr>
              <a:t> | /im </a:t>
            </a:r>
            <a:r>
              <a:rPr sz="1076" b="0">
                <a:solidFill>
                  <a:srgbClr val="333333"/>
                </a:solidFill>
              </a:rPr>
              <a:t>]} [/f] [/t]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33" y="2905124"/>
            <a:ext cx="5286242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78D4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78D4"/>
                </a:solidFill>
              </a:rPr>
              <a:t> Key Parameters 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2950845"/>
            <a:ext cx="228594" cy="19430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6733" y="3343275"/>
            <a:ext cx="114297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0078D4"/>
                </a:solidFill>
              </a:rPr>
              <a:t>/f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04952" y="3343275"/>
            <a:ext cx="202877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</a:rPr>
              <a:t>Forcefully terminate 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33" y="3638550"/>
            <a:ext cx="114297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0078D4"/>
                </a:solidFill>
              </a:rPr>
              <a:t>/im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04952" y="3638550"/>
            <a:ext cx="193352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</a:rPr>
              <a:t>Kill process by image 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33" y="3933824"/>
            <a:ext cx="114297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0078D4"/>
                </a:solidFill>
              </a:rPr>
              <a:t>/pid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4952" y="3933824"/>
            <a:ext cx="130489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</a:rPr>
              <a:t>Kill process by PID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33" y="4229100"/>
            <a:ext cx="114297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0078D4"/>
                </a:solidFill>
              </a:rPr>
              <a:t>/t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4952" y="4229100"/>
            <a:ext cx="1857328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</a:rPr>
              <a:t>Terminate child processes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33" y="4524374"/>
            <a:ext cx="114297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0078D4"/>
                </a:solidFill>
              </a:rPr>
              <a:t>/fi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04952" y="4524374"/>
            <a:ext cx="1866853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</a:rPr>
              <a:t>Filter processes by criteria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8719" y="1238249"/>
            <a:ext cx="5286242" cy="2076449"/>
          </a:xfrm>
          <a:prstGeom prst="roundRect">
            <a:avLst>
              <a:gd name="adj" fmla="val 733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1590" y="1381124"/>
            <a:ext cx="500049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0078D4"/>
                </a:solidFill>
              </a:rPr>
              <a:t>Basic Usage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81590" y="1714500"/>
            <a:ext cx="5000499" cy="390525"/>
          </a:xfrm>
          <a:prstGeom prst="roundRect">
            <a:avLst>
              <a:gd name="adj" fmla="val 19512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1590" y="1714500"/>
            <a:ext cx="5000499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0">
                <a:solidFill>
                  <a:srgbClr val="333333"/>
                </a:solidFill>
              </a:rPr>
              <a:t>taskkill /im notepad.exe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81590" y="2200275"/>
            <a:ext cx="5000499" cy="390525"/>
          </a:xfrm>
          <a:prstGeom prst="roundRect">
            <a:avLst>
              <a:gd name="adj" fmla="val 19512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1590" y="2200275"/>
            <a:ext cx="5000499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0">
                <a:solidFill>
                  <a:srgbClr val="333333"/>
                </a:solidFill>
              </a:rPr>
              <a:t>taskkill /pid 1234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81590" y="2686050"/>
            <a:ext cx="5000499" cy="390525"/>
          </a:xfrm>
          <a:prstGeom prst="roundRect">
            <a:avLst>
              <a:gd name="adj" fmla="val 19512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81590" y="2686050"/>
            <a:ext cx="5000499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0">
                <a:solidFill>
                  <a:srgbClr val="333333"/>
                </a:solidFill>
              </a:rPr>
              <a:t>taskkill /f /im chrome.exe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8719" y="3505199"/>
            <a:ext cx="5286242" cy="2495550"/>
          </a:xfrm>
          <a:prstGeom prst="roundRect">
            <a:avLst>
              <a:gd name="adj" fmla="val 610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81590" y="3648074"/>
            <a:ext cx="500049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0078D4"/>
                </a:solidFill>
              </a:rPr>
              <a:t>Advanced Examples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81590" y="3981449"/>
            <a:ext cx="5000499" cy="390525"/>
          </a:xfrm>
          <a:prstGeom prst="roundRect">
            <a:avLst>
              <a:gd name="adj" fmla="val 19512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81590" y="3981449"/>
            <a:ext cx="5000499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0">
                <a:solidFill>
                  <a:srgbClr val="333333"/>
                </a:solidFill>
              </a:rPr>
              <a:t>taskkill /f /im "my app.exe" /t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81590" y="4467224"/>
            <a:ext cx="5000499" cy="390525"/>
          </a:xfrm>
          <a:prstGeom prst="roundRect">
            <a:avLst>
              <a:gd name="adj" fmla="val 19512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1590" y="4467224"/>
            <a:ext cx="5000499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0">
                <a:solidFill>
                  <a:srgbClr val="333333"/>
                </a:solidFill>
              </a:rPr>
              <a:t>taskkill /fi "memusage gt 100000"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81590" y="4952999"/>
            <a:ext cx="5000499" cy="590549"/>
          </a:xfrm>
          <a:prstGeom prst="roundRect">
            <a:avLst>
              <a:gd name="adj" fmla="val 12903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81590" y="4952999"/>
            <a:ext cx="5000499" cy="5905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0">
                <a:solidFill>
                  <a:srgbClr val="333333"/>
                </a:solidFill>
              </a:rPr>
              <a:t>taskkill /s remote-pc /u admin /p password /im app.exe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1590" y="5638799"/>
            <a:ext cx="500049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650"/>
              </a:spcBef>
              <a:spcAft>
                <a:spcPts val="0"/>
              </a:spcAft>
            </a:pPr>
            <a:r>
              <a:rPr sz="1076" b="0">
                <a:solidFill>
                  <a:srgbClr val="666666"/>
                </a:solidFill>
              </a:rPr>
              <a:t>Use </a:t>
            </a:r>
            <a:r>
              <a:rPr sz="1076" b="1">
                <a:solidFill>
                  <a:srgbClr val="0078D4"/>
                </a:solidFill>
              </a:rPr>
              <a:t>/f</a:t>
            </a:r>
            <a:r>
              <a:rPr sz="1076" b="0">
                <a:solidFill>
                  <a:srgbClr val="666666"/>
                </a:solidFill>
              </a:rPr>
              <a:t> parameter for unresponsive processes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38719" y="6191250"/>
            <a:ext cx="5286242" cy="285750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WMIC Command for Process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238249"/>
            <a:ext cx="5286242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78D4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78D4"/>
                </a:solidFill>
              </a:rPr>
              <a:t> What is WMIC?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302067"/>
            <a:ext cx="228594" cy="1771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6733" y="1676400"/>
            <a:ext cx="432424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78D4"/>
                </a:solidFill>
              </a:rPr>
              <a:t>Windows Management Instrumentation</a:t>
            </a:r>
            <a:r>
              <a:rPr sz="1076" b="0">
                <a:solidFill>
                  <a:srgbClr val="333333"/>
                </a:solidFill>
              </a:rPr>
              <a:t> Command-line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33" y="1971675"/>
            <a:ext cx="488620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</a:rPr>
              <a:t>Provides </a:t>
            </a:r>
            <a:r>
              <a:rPr sz="1076" b="1">
                <a:solidFill>
                  <a:srgbClr val="0078D4"/>
                </a:solidFill>
              </a:rPr>
              <a:t>detailed system information</a:t>
            </a:r>
            <a:r>
              <a:rPr sz="1076" b="0">
                <a:solidFill>
                  <a:srgbClr val="333333"/>
                </a:solidFill>
              </a:rPr>
              <a:t> and management 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33" y="2266950"/>
            <a:ext cx="340033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</a:rPr>
              <a:t>More </a:t>
            </a:r>
            <a:r>
              <a:rPr sz="1076" b="1">
                <a:solidFill>
                  <a:srgbClr val="0078D4"/>
                </a:solidFill>
              </a:rPr>
              <a:t>powerful</a:t>
            </a:r>
            <a:r>
              <a:rPr sz="1076" b="0">
                <a:solidFill>
                  <a:srgbClr val="333333"/>
                </a:solidFill>
              </a:rPr>
              <a:t> than tasklist for process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33" y="2800350"/>
            <a:ext cx="5286242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78D4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78D4"/>
                </a:solidFill>
              </a:rPr>
              <a:t> Syntax 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2889885"/>
            <a:ext cx="228594" cy="12572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66733" y="3238500"/>
            <a:ext cx="5286242" cy="542925"/>
          </a:xfrm>
          <a:prstGeom prst="roundRect">
            <a:avLst>
              <a:gd name="adj" fmla="val 14035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461311" y="3443922"/>
            <a:ext cx="5429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7703" y="3381375"/>
            <a:ext cx="4962400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</a:rPr>
              <a:t>wmic process [where condition] get properties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33" y="4210049"/>
            <a:ext cx="5286242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78D4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78D4"/>
                </a:solidFill>
              </a:rPr>
              <a:t> Key Properties 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6733" y="4305300"/>
            <a:ext cx="228594" cy="1143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66733" y="4648200"/>
            <a:ext cx="114297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0078D4"/>
                </a:solidFill>
              </a:rPr>
              <a:t>Name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4952" y="4648200"/>
            <a:ext cx="99057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</a:rPr>
              <a:t>Process 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33" y="4943475"/>
            <a:ext cx="114297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0078D4"/>
                </a:solidFill>
              </a:rPr>
              <a:t>ProcessId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4952" y="4943475"/>
            <a:ext cx="112392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</a:rPr>
              <a:t>Process ID (PID)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33" y="5238749"/>
            <a:ext cx="114297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0078D4"/>
                </a:solidFill>
              </a:rPr>
              <a:t>CommandLine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04952" y="5238749"/>
            <a:ext cx="1857328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</a:rPr>
              <a:t>Command line arguments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733" y="5534025"/>
            <a:ext cx="114297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0078D4"/>
                </a:solidFill>
              </a:rPr>
              <a:t>WorkingSetSize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04952" y="5534025"/>
            <a:ext cx="163825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</a:rPr>
              <a:t>Memory usage in bytes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6733" y="6210299"/>
            <a:ext cx="5286242" cy="723900"/>
          </a:xfrm>
          <a:prstGeom prst="roundRect">
            <a:avLst>
              <a:gd name="adj" fmla="val 10526"/>
            </a:avLst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370823" y="6506209"/>
            <a:ext cx="7239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47703" y="6479381"/>
            <a:ext cx="228594" cy="18573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171545" y="6353174"/>
            <a:ext cx="4638559" cy="4381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</a:rPr>
              <a:t>WMIC is deprecated in Windows 11 and requires manual installation as a "Feature on Demand"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8719" y="1238249"/>
            <a:ext cx="5286242" cy="2476499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81590" y="1381124"/>
            <a:ext cx="500049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0078D4"/>
                </a:solidFill>
              </a:rPr>
              <a:t>Basic Examples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81590" y="1714500"/>
            <a:ext cx="5000499" cy="390525"/>
          </a:xfrm>
          <a:prstGeom prst="roundRect">
            <a:avLst>
              <a:gd name="adj" fmla="val 19512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81590" y="1714500"/>
            <a:ext cx="5000499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0">
                <a:solidFill>
                  <a:srgbClr val="333333"/>
                </a:solidFill>
              </a:rPr>
              <a:t>wmic process get Name,ProcessId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81590" y="2200275"/>
            <a:ext cx="5000499" cy="590549"/>
          </a:xfrm>
          <a:prstGeom prst="roundRect">
            <a:avLst>
              <a:gd name="adj" fmla="val 12903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81590" y="2200275"/>
            <a:ext cx="5000499" cy="5905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0">
                <a:solidFill>
                  <a:srgbClr val="333333"/>
                </a:solidFill>
              </a:rPr>
              <a:t>wmic process where "Name='notepad.exe'" get ProcessId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81590" y="2886075"/>
            <a:ext cx="5000499" cy="590549"/>
          </a:xfrm>
          <a:prstGeom prst="roundRect">
            <a:avLst>
              <a:gd name="adj" fmla="val 12903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81590" y="2886075"/>
            <a:ext cx="5000499" cy="5905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0">
                <a:solidFill>
                  <a:srgbClr val="333333"/>
                </a:solidFill>
              </a:rPr>
              <a:t>wmic process get Name,CommandLine,PageFileUsage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38719" y="3905249"/>
            <a:ext cx="5286242" cy="2695575"/>
          </a:xfrm>
          <a:prstGeom prst="roundRect">
            <a:avLst>
              <a:gd name="adj" fmla="val 565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81590" y="4048124"/>
            <a:ext cx="500049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0078D4"/>
                </a:solidFill>
              </a:rPr>
              <a:t>Advanced Examples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81590" y="4381499"/>
            <a:ext cx="5000499" cy="590549"/>
          </a:xfrm>
          <a:prstGeom prst="roundRect">
            <a:avLst>
              <a:gd name="adj" fmla="val 12903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81590" y="4381499"/>
            <a:ext cx="5000499" cy="5905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0">
                <a:solidFill>
                  <a:srgbClr val="333333"/>
                </a:solidFill>
              </a:rPr>
              <a:t>wmic process where "WorkingSetSize&gt;10000000" get Name,ProcessId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81590" y="5067299"/>
            <a:ext cx="5000499" cy="390525"/>
          </a:xfrm>
          <a:prstGeom prst="roundRect">
            <a:avLst>
              <a:gd name="adj" fmla="val 19512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81590" y="5067299"/>
            <a:ext cx="5000499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0">
                <a:solidFill>
                  <a:srgbClr val="333333"/>
                </a:solidFill>
              </a:rPr>
              <a:t>wmic process call terminate "notepad.exe"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81590" y="5553074"/>
            <a:ext cx="5000499" cy="590549"/>
          </a:xfrm>
          <a:prstGeom prst="roundRect">
            <a:avLst>
              <a:gd name="adj" fmla="val 12903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81590" y="5553074"/>
            <a:ext cx="5000499" cy="5905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0">
                <a:solidFill>
                  <a:srgbClr val="333333"/>
                </a:solidFill>
              </a:rPr>
              <a:t>wmic /node:remote-pc process get Name,ProcessId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81590" y="6238874"/>
            <a:ext cx="500049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650"/>
              </a:spcBef>
              <a:spcAft>
                <a:spcPts val="0"/>
              </a:spcAft>
            </a:pPr>
            <a:r>
              <a:rPr sz="1076" b="0">
                <a:solidFill>
                  <a:srgbClr val="666666"/>
                </a:solidFill>
              </a:rPr>
              <a:t>Use </a:t>
            </a:r>
            <a:r>
              <a:rPr sz="1076" b="1">
                <a:solidFill>
                  <a:srgbClr val="0078D4"/>
                </a:solidFill>
              </a:rPr>
              <a:t>/output:filename.txt</a:t>
            </a:r>
            <a:r>
              <a:rPr sz="1076" b="0">
                <a:solidFill>
                  <a:srgbClr val="666666"/>
                </a:solidFill>
              </a:rPr>
              <a:t> to save results to file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38719" y="6791325"/>
            <a:ext cx="5286242" cy="3771900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Advanced Process Testing Techniques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238249"/>
            <a:ext cx="10858228" cy="2657475"/>
          </a:xfrm>
          <a:prstGeom prst="roundRect">
            <a:avLst>
              <a:gd name="adj" fmla="val 573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1491976"/>
            <a:ext cx="342891" cy="2926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81090" y="1504950"/>
            <a:ext cx="2238319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78D4"/>
                </a:solidFill>
              </a:rPr>
              <a:t>Combining Commands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2057400"/>
            <a:ext cx="190495" cy="9524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81070" y="2000250"/>
            <a:ext cx="1676358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78D4"/>
                </a:solidFill>
              </a:rPr>
              <a:t>Pipeline monitoring: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2438400"/>
            <a:ext cx="190495" cy="9524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81070" y="2381250"/>
            <a:ext cx="151443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78D4"/>
                </a:solidFill>
              </a:rPr>
              <a:t>Resource tracking: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3086100"/>
            <a:ext cx="190495" cy="9524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81070" y="3028950"/>
            <a:ext cx="1533486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78D4"/>
                </a:solidFill>
              </a:rPr>
              <a:t>Batch termination: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6733" y="4181474"/>
            <a:ext cx="10858228" cy="2476499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95327" y="4441247"/>
            <a:ext cx="1371565" cy="28055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409764" y="4457700"/>
            <a:ext cx="239071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78D4"/>
                </a:solidFill>
              </a:rPr>
              <a:t>Performance Monitoring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5000625"/>
            <a:ext cx="190495" cy="9524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81070" y="4943475"/>
            <a:ext cx="143823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78D4"/>
                </a:solidFill>
              </a:rPr>
              <a:t>Memory tracking: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5381624"/>
            <a:ext cx="190495" cy="9524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81070" y="5324474"/>
            <a:ext cx="1447763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78D4"/>
                </a:solidFill>
              </a:rPr>
              <a:t>Resource logging: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5762625"/>
            <a:ext cx="190495" cy="9524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81070" y="5705475"/>
            <a:ext cx="1790655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78D4"/>
                </a:solidFill>
              </a:rPr>
              <a:t>Network connections: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6733" y="6943725"/>
            <a:ext cx="5286242" cy="3190874"/>
          </a:xfrm>
          <a:prstGeom prst="roundRect">
            <a:avLst>
              <a:gd name="adj" fmla="val 477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95327" y="7179715"/>
            <a:ext cx="342891" cy="32811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81090" y="7219950"/>
            <a:ext cx="1619209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78D4"/>
                </a:solidFill>
              </a:rPr>
              <a:t>Troubleshooting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7762874"/>
            <a:ext cx="190495" cy="9524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81070" y="7705724"/>
            <a:ext cx="151443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78D4"/>
                </a:solidFill>
              </a:rPr>
              <a:t>Zombie processes: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8410575"/>
            <a:ext cx="190495" cy="9524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181070" y="8353424"/>
            <a:ext cx="1228694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78D4"/>
                </a:solidFill>
              </a:rPr>
              <a:t>Resource hogs: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9058275"/>
            <a:ext cx="190495" cy="9524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181070" y="9001125"/>
            <a:ext cx="141918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78D4"/>
                </a:solidFill>
              </a:rPr>
              <a:t>Process ancestry: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38719" y="6943725"/>
            <a:ext cx="5286242" cy="3190874"/>
          </a:xfrm>
          <a:prstGeom prst="roundRect">
            <a:avLst>
              <a:gd name="adj" fmla="val 477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467313" y="7191539"/>
            <a:ext cx="342891" cy="304471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953076" y="7219950"/>
            <a:ext cx="1838279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78D4"/>
                </a:solidFill>
              </a:rPr>
              <a:t>Automated Testing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467313" y="7762874"/>
            <a:ext cx="190495" cy="9524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753056" y="7705724"/>
            <a:ext cx="1390615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78D4"/>
                </a:solidFill>
              </a:rPr>
              <a:t>Process lifecycle: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467313" y="8410575"/>
            <a:ext cx="190495" cy="9524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753056" y="8353424"/>
            <a:ext cx="1152496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78D4"/>
                </a:solidFill>
              </a:rPr>
              <a:t>Stress testing: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467313" y="9058275"/>
            <a:ext cx="190495" cy="9524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753056" y="9001125"/>
            <a:ext cx="1523961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78D4"/>
                </a:solidFill>
              </a:rPr>
              <a:t>Batch automation: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Best Practices for Process Testing in Windows 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238249"/>
            <a:ext cx="2562160" cy="4581524"/>
          </a:xfrm>
          <a:prstGeom prst="roundRect">
            <a:avLst>
              <a:gd name="adj" fmla="val 594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1480152"/>
            <a:ext cx="342891" cy="3162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81090" y="1504950"/>
            <a:ext cx="1600159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78D4"/>
                </a:solidFill>
              </a:rPr>
              <a:t>Effective Testing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2023782"/>
            <a:ext cx="190495" cy="16248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81070" y="1990724"/>
            <a:ext cx="1819229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 </a:t>
            </a:r>
            <a:r>
              <a:rPr sz="1196" b="1">
                <a:solidFill>
                  <a:srgbClr val="0078D4"/>
                </a:solidFill>
              </a:rPr>
              <a:t>Create baseline</a:t>
            </a:r>
            <a:r>
              <a:rPr sz="1196" b="0">
                <a:solidFill>
                  <a:srgbClr val="333333"/>
                </a:solidFill>
              </a:rPr>
              <a:t> before testing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2671482"/>
            <a:ext cx="190495" cy="16248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81070" y="2638425"/>
            <a:ext cx="1819229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 </a:t>
            </a:r>
            <a:r>
              <a:rPr sz="1196" b="1">
                <a:solidFill>
                  <a:srgbClr val="0078D4"/>
                </a:solidFill>
              </a:rPr>
              <a:t>Log results</a:t>
            </a:r>
            <a:r>
              <a:rPr sz="1196" b="0">
                <a:solidFill>
                  <a:srgbClr val="333333"/>
                </a:solidFill>
              </a:rPr>
              <a:t> with timestamps 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3319182"/>
            <a:ext cx="190495" cy="1624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81070" y="3286125"/>
            <a:ext cx="1819229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 </a:t>
            </a:r>
            <a:r>
              <a:rPr sz="1196" b="1">
                <a:solidFill>
                  <a:srgbClr val="0078D4"/>
                </a:solidFill>
              </a:rPr>
              <a:t>Test in isolation</a:t>
            </a:r>
            <a:r>
              <a:rPr sz="1196" b="0">
                <a:solidFill>
                  <a:srgbClr val="333333"/>
                </a:solidFill>
              </a:rPr>
              <a:t> to avoid interference 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3966882"/>
            <a:ext cx="190495" cy="1624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81070" y="3933824"/>
            <a:ext cx="1819229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 </a:t>
            </a:r>
            <a:r>
              <a:rPr sz="1196" b="1">
                <a:solidFill>
                  <a:srgbClr val="0078D4"/>
                </a:solidFill>
              </a:rPr>
              <a:t>Monitor resources</a:t>
            </a:r>
            <a:r>
              <a:rPr sz="1196" b="0">
                <a:solidFill>
                  <a:srgbClr val="333333"/>
                </a:solidFill>
              </a:rPr>
              <a:t> during tests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14637" y="1238249"/>
            <a:ext cx="2562160" cy="4581524"/>
          </a:xfrm>
          <a:prstGeom prst="roundRect">
            <a:avLst>
              <a:gd name="adj" fmla="val 594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743231" y="1604141"/>
            <a:ext cx="342891" cy="27786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228994" y="1466849"/>
            <a:ext cx="1619209" cy="5905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78D4"/>
                </a:solidFill>
              </a:rPr>
              <a:t>Common Pitfalls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3743231" y="2233332"/>
            <a:ext cx="190495" cy="16248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028974" y="2200275"/>
            <a:ext cx="1819229" cy="8001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 </a:t>
            </a:r>
            <a:r>
              <a:rPr sz="1196" b="1">
                <a:solidFill>
                  <a:srgbClr val="0078D4"/>
                </a:solidFill>
              </a:rPr>
              <a:t>Forgetting /f</a:t>
            </a:r>
            <a:r>
              <a:rPr sz="1196" b="0">
                <a:solidFill>
                  <a:srgbClr val="333333"/>
                </a:solidFill>
              </a:rPr>
              <a:t> with unresponsive processes 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3743231" y="3147732"/>
            <a:ext cx="190495" cy="16248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028974" y="3114675"/>
            <a:ext cx="1819229" cy="8001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 </a:t>
            </a:r>
            <a:r>
              <a:rPr sz="1196" b="1">
                <a:solidFill>
                  <a:srgbClr val="0078D4"/>
                </a:solidFill>
              </a:rPr>
              <a:t>Not checking privileges</a:t>
            </a:r>
            <a:r>
              <a:rPr sz="1196" b="0">
                <a:solidFill>
                  <a:srgbClr val="333333"/>
                </a:solidFill>
              </a:rPr>
              <a:t> before terminating 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3743231" y="4062132"/>
            <a:ext cx="190495" cy="16248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028974" y="4029075"/>
            <a:ext cx="1819229" cy="8001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 </a:t>
            </a:r>
            <a:r>
              <a:rPr sz="1196" b="1">
                <a:solidFill>
                  <a:srgbClr val="0078D4"/>
                </a:solidFill>
              </a:rPr>
              <a:t>Ignoring child processes</a:t>
            </a:r>
            <a:r>
              <a:rPr sz="1196" b="0">
                <a:solidFill>
                  <a:srgbClr val="333333"/>
                </a:solidFill>
              </a:rPr>
              <a:t> when terminating 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3743231" y="4976532"/>
            <a:ext cx="190495" cy="16248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028974" y="4943475"/>
            <a:ext cx="1819229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 </a:t>
            </a:r>
            <a:r>
              <a:rPr sz="1196" b="1">
                <a:solidFill>
                  <a:srgbClr val="0078D4"/>
                </a:solidFill>
              </a:rPr>
              <a:t>Using WMIC</a:t>
            </a:r>
            <a:r>
              <a:rPr sz="1196" b="0">
                <a:solidFill>
                  <a:srgbClr val="333333"/>
                </a:solidFill>
              </a:rPr>
              <a:t> without checking availability 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6733" y="6105525"/>
            <a:ext cx="2562160" cy="4048124"/>
          </a:xfrm>
          <a:prstGeom prst="roundRect">
            <a:avLst>
              <a:gd name="adj" fmla="val 594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95327" y="6450724"/>
            <a:ext cx="342891" cy="319251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381090" y="6334125"/>
            <a:ext cx="1619209" cy="5905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78D4"/>
                </a:solidFill>
              </a:rPr>
              <a:t>Security Considerations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95327" y="7092202"/>
            <a:ext cx="190495" cy="17929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181070" y="7067549"/>
            <a:ext cx="1819229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 </a:t>
            </a:r>
            <a:r>
              <a:rPr sz="1196" b="1">
                <a:solidFill>
                  <a:srgbClr val="0078D4"/>
                </a:solidFill>
              </a:rPr>
              <a:t>Run as admin</a:t>
            </a:r>
            <a:r>
              <a:rPr sz="1196" b="0">
                <a:solidFill>
                  <a:srgbClr val="333333"/>
                </a:solidFill>
              </a:rPr>
              <a:t> only when necessary 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95327" y="7739902"/>
            <a:ext cx="190495" cy="17929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181070" y="7715250"/>
            <a:ext cx="1819229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 </a:t>
            </a:r>
            <a:r>
              <a:rPr sz="1196" b="1">
                <a:solidFill>
                  <a:srgbClr val="0078D4"/>
                </a:solidFill>
              </a:rPr>
              <a:t>Verify process identity</a:t>
            </a:r>
            <a:r>
              <a:rPr sz="1196" b="0">
                <a:solidFill>
                  <a:srgbClr val="333333"/>
                </a:solidFill>
              </a:rPr>
              <a:t> before termination 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95327" y="8387602"/>
            <a:ext cx="190495" cy="17929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181070" y="8362949"/>
            <a:ext cx="1819229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 </a:t>
            </a:r>
            <a:r>
              <a:rPr sz="1196" b="1">
                <a:solidFill>
                  <a:srgbClr val="0078D4"/>
                </a:solidFill>
              </a:rPr>
              <a:t>Avoid exposing sensitive data</a:t>
            </a:r>
            <a:r>
              <a:rPr sz="1196" b="0">
                <a:solidFill>
                  <a:srgbClr val="333333"/>
                </a:solidFill>
              </a:rPr>
              <a:t> in logs 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95327" y="9035302"/>
            <a:ext cx="190495" cy="17929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181070" y="9010650"/>
            <a:ext cx="1819229" cy="8001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 </a:t>
            </a:r>
            <a:r>
              <a:rPr sz="1196" b="1">
                <a:solidFill>
                  <a:srgbClr val="0078D4"/>
                </a:solidFill>
              </a:rPr>
              <a:t>Use proper authentication</a:t>
            </a:r>
            <a:r>
              <a:rPr sz="1196" b="0">
                <a:solidFill>
                  <a:srgbClr val="333333"/>
                </a:solidFill>
              </a:rPr>
              <a:t> for remote systems 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514637" y="6105525"/>
            <a:ext cx="2562160" cy="4048124"/>
          </a:xfrm>
          <a:prstGeom prst="roundRect">
            <a:avLst>
              <a:gd name="adj" fmla="val 594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3743231" y="6490630"/>
            <a:ext cx="342891" cy="23943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228994" y="6334125"/>
            <a:ext cx="1619209" cy="5905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78D4"/>
                </a:solidFill>
              </a:rPr>
              <a:t>Performance Tips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3743231" y="7128622"/>
            <a:ext cx="190495" cy="106455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4028974" y="7067549"/>
            <a:ext cx="1819229" cy="8001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 </a:t>
            </a:r>
            <a:r>
              <a:rPr sz="1196" b="1">
                <a:solidFill>
                  <a:srgbClr val="0078D4"/>
                </a:solidFill>
              </a:rPr>
              <a:t>Filter output</a:t>
            </a:r>
            <a:r>
              <a:rPr sz="1196" b="0">
                <a:solidFill>
                  <a:srgbClr val="333333"/>
                </a:solidFill>
              </a:rPr>
              <a:t> to reduce processing time 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3743231" y="8043022"/>
            <a:ext cx="190495" cy="106455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028974" y="7981949"/>
            <a:ext cx="1819229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 </a:t>
            </a:r>
            <a:r>
              <a:rPr sz="1196" b="1">
                <a:solidFill>
                  <a:srgbClr val="0078D4"/>
                </a:solidFill>
              </a:rPr>
              <a:t>Use specific criteria</a:t>
            </a:r>
            <a:r>
              <a:rPr sz="1196" b="0">
                <a:solidFill>
                  <a:srgbClr val="333333"/>
                </a:solidFill>
              </a:rPr>
              <a:t> instead of listing all 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3743231" y="8690722"/>
            <a:ext cx="190495" cy="106455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4028974" y="8629650"/>
            <a:ext cx="1819229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 </a:t>
            </a:r>
            <a:r>
              <a:rPr sz="1196" b="1">
                <a:solidFill>
                  <a:srgbClr val="0078D4"/>
                </a:solidFill>
              </a:rPr>
              <a:t>Cache results</a:t>
            </a:r>
            <a:r>
              <a:rPr sz="1196" b="0">
                <a:solidFill>
                  <a:srgbClr val="333333"/>
                </a:solidFill>
              </a:rPr>
              <a:t> for repeated queries 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3743231" y="9338422"/>
            <a:ext cx="190495" cy="106455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4028974" y="9277349"/>
            <a:ext cx="1819229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 </a:t>
            </a:r>
            <a:r>
              <a:rPr sz="1196" b="1">
                <a:solidFill>
                  <a:srgbClr val="0078D4"/>
                </a:solidFill>
              </a:rPr>
              <a:t>Batch operations</a:t>
            </a:r>
            <a:r>
              <a:rPr sz="1196" b="0">
                <a:solidFill>
                  <a:srgbClr val="333333"/>
                </a:solidFill>
              </a:rPr>
              <a:t> to reduce overhead 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067273" y="1523999"/>
            <a:ext cx="5457688" cy="8629650"/>
          </a:xfrm>
          <a:prstGeom prst="roundRect">
            <a:avLst>
              <a:gd name="adj" fmla="val 2792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257768" y="5652836"/>
            <a:ext cx="457188" cy="333876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905452" y="4943475"/>
            <a:ext cx="4429014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0078D4"/>
                </a:solidFill>
              </a:rPr>
              <a:t>Resources for Further Learning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905452" y="5334000"/>
            <a:ext cx="1581110" cy="371475"/>
          </a:xfrm>
          <a:prstGeom prst="roundRect">
            <a:avLst>
              <a:gd name="adj" fmla="val 2051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05452" y="5334000"/>
            <a:ext cx="1581110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333333"/>
                </a:solidFill>
              </a:rPr>
              <a:t> Microsoft Docs 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7048323" y="5445841"/>
            <a:ext cx="171445" cy="138266"/>
          </a:xfrm>
          <a:prstGeom prst="rect">
            <a:avLst/>
          </a:prstGeom>
        </p:spPr>
      </p:pic>
      <p:sp>
        <p:nvSpPr>
          <p:cNvPr id="54" name="Rounded Rectangle 53"/>
          <p:cNvSpPr/>
          <p:nvPr/>
        </p:nvSpPr>
        <p:spPr>
          <a:xfrm>
            <a:off x="8629434" y="5334000"/>
            <a:ext cx="1914477" cy="371475"/>
          </a:xfrm>
          <a:prstGeom prst="roundRect">
            <a:avLst>
              <a:gd name="adj" fmla="val 2051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29434" y="5334000"/>
            <a:ext cx="1914477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333333"/>
                </a:solidFill>
              </a:rPr>
              <a:t> PowerShell 7 Guide </a:t>
            </a:r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8772305" y="5445841"/>
            <a:ext cx="171445" cy="138266"/>
          </a:xfrm>
          <a:prstGeom prst="rect">
            <a:avLst/>
          </a:prstGeom>
        </p:spPr>
      </p:pic>
      <p:sp>
        <p:nvSpPr>
          <p:cNvPr id="57" name="Rounded Rectangle 56"/>
          <p:cNvSpPr/>
          <p:nvPr/>
        </p:nvSpPr>
        <p:spPr>
          <a:xfrm>
            <a:off x="6905452" y="5848350"/>
            <a:ext cx="2095447" cy="371475"/>
          </a:xfrm>
          <a:prstGeom prst="roundRect">
            <a:avLst>
              <a:gd name="adj" fmla="val 2051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05452" y="5848350"/>
            <a:ext cx="2095447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333333"/>
                </a:solidFill>
              </a:rPr>
              <a:t> Windows Sysinternals </a:t>
            </a:r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7048323" y="5979549"/>
            <a:ext cx="171445" cy="99551"/>
          </a:xfrm>
          <a:prstGeom prst="rect">
            <a:avLst/>
          </a:prstGeom>
        </p:spPr>
      </p:pic>
      <p:sp>
        <p:nvSpPr>
          <p:cNvPr id="60" name="Rounded Rectangle 59"/>
          <p:cNvSpPr/>
          <p:nvPr/>
        </p:nvSpPr>
        <p:spPr>
          <a:xfrm>
            <a:off x="9143771" y="5848350"/>
            <a:ext cx="1743031" cy="371475"/>
          </a:xfrm>
          <a:prstGeom prst="roundRect">
            <a:avLst>
              <a:gd name="adj" fmla="val 2051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43771" y="5848350"/>
            <a:ext cx="1743031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333333"/>
                </a:solidFill>
              </a:rPr>
              <a:t> Tech Community </a:t>
            </a:r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9286642" y="5954661"/>
            <a:ext cx="171445" cy="149327"/>
          </a:xfrm>
          <a:prstGeom prst="rect">
            <a:avLst/>
          </a:prstGeom>
        </p:spPr>
      </p:pic>
      <p:sp>
        <p:nvSpPr>
          <p:cNvPr id="63" name="Rounded Rectangle 62"/>
          <p:cNvSpPr/>
          <p:nvPr/>
        </p:nvSpPr>
        <p:spPr>
          <a:xfrm>
            <a:off x="6905452" y="6362700"/>
            <a:ext cx="1638259" cy="371475"/>
          </a:xfrm>
          <a:prstGeom prst="roundRect">
            <a:avLst>
              <a:gd name="adj" fmla="val 2051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905452" y="6362700"/>
            <a:ext cx="1638259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333333"/>
                </a:solidFill>
              </a:rPr>
              <a:t> Microsoft Learn </a:t>
            </a:r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7048323" y="6469011"/>
            <a:ext cx="171445" cy="14932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